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1e581371194056" /><Relationship Type="http://schemas.openxmlformats.org/officeDocument/2006/relationships/extended-properties" Target="/docProps/app.xml" Id="R468356fc62274586" /><Relationship Type="http://schemas.openxmlformats.org/officeDocument/2006/relationships/officeDocument" Target="/ppt/presentation.xml" Id="Rf6f6effdc3e547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1cefcc2e4f4546"/>
  </p:sldMasterIdLst>
  <p:notesMasterIdLst>
    <p:notesMasterId xmlns:r="http://schemas.openxmlformats.org/officeDocument/2006/relationships" r:id="R3cd895c4ec6a4976"/>
  </p:notesMasterIdLst>
  <p:sldIdLst>
    <p:sldId xmlns:r="http://schemas.openxmlformats.org/officeDocument/2006/relationships" id="256" r:id="Re228d1ccfbb94022"/>
    <p:sldId xmlns:r="http://schemas.openxmlformats.org/officeDocument/2006/relationships" id="257" r:id="R73c70e114ead4f82"/>
    <p:sldId xmlns:r="http://schemas.openxmlformats.org/officeDocument/2006/relationships" id="258" r:id="Rab7deb3041074664"/>
    <p:sldId xmlns:r="http://schemas.openxmlformats.org/officeDocument/2006/relationships" id="259" r:id="R4b213393b0004c9c"/>
    <p:sldId xmlns:r="http://schemas.openxmlformats.org/officeDocument/2006/relationships" id="260" r:id="R78a29bd87efd40b6"/>
    <p:sldId xmlns:r="http://schemas.openxmlformats.org/officeDocument/2006/relationships" id="261" r:id="R328355607a3b45d7"/>
    <p:sldId xmlns:r="http://schemas.openxmlformats.org/officeDocument/2006/relationships" id="262" r:id="Rf3723306ea414422"/>
    <p:sldId xmlns:r="http://schemas.openxmlformats.org/officeDocument/2006/relationships" id="263" r:id="R595c06ee5afc494f"/>
    <p:sldId xmlns:r="http://schemas.openxmlformats.org/officeDocument/2006/relationships" id="264" r:id="R34c1ae12d28e486b"/>
    <p:sldId xmlns:r="http://schemas.openxmlformats.org/officeDocument/2006/relationships" id="265" r:id="Rd80ed67efdd24f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801322c07c4ce8" /><Relationship Type="http://schemas.openxmlformats.org/officeDocument/2006/relationships/slideMaster" Target="/ppt/slideMasters/slideMaster1.xml" Id="R181cefcc2e4f4546" /><Relationship Type="http://schemas.openxmlformats.org/officeDocument/2006/relationships/notesMaster" Target="/ppt/notesMasters/notesMaster1.xml" Id="R3cd895c4ec6a4976" /><Relationship Type="http://schemas.openxmlformats.org/officeDocument/2006/relationships/presProps" Target="/ppt/presProps.xml" Id="Rc489f96d164a4544" /><Relationship Type="http://schemas.openxmlformats.org/officeDocument/2006/relationships/tableStyles" Target="/ppt/tableStyles.xml" Id="R89932facfc2743fd" /><Relationship Type="http://schemas.openxmlformats.org/officeDocument/2006/relationships/slide" Target="/ppt/slides/slide1.xml" Id="Re228d1ccfbb94022" /><Relationship Type="http://schemas.openxmlformats.org/officeDocument/2006/relationships/slide" Target="/ppt/slides/slide2.xml" Id="R73c70e114ead4f82" /><Relationship Type="http://schemas.openxmlformats.org/officeDocument/2006/relationships/slide" Target="/ppt/slides/slide3.xml" Id="Rab7deb3041074664" /><Relationship Type="http://schemas.openxmlformats.org/officeDocument/2006/relationships/slide" Target="/ppt/slides/slide4.xml" Id="R4b213393b0004c9c" /><Relationship Type="http://schemas.openxmlformats.org/officeDocument/2006/relationships/slide" Target="/ppt/slides/slide5.xml" Id="R78a29bd87efd40b6" /><Relationship Type="http://schemas.openxmlformats.org/officeDocument/2006/relationships/slide" Target="/ppt/slides/slide6.xml" Id="R328355607a3b45d7" /><Relationship Type="http://schemas.openxmlformats.org/officeDocument/2006/relationships/slide" Target="/ppt/slides/slide7.xml" Id="Rf3723306ea414422" /><Relationship Type="http://schemas.openxmlformats.org/officeDocument/2006/relationships/slide" Target="/ppt/slides/slide8.xml" Id="R595c06ee5afc494f" /><Relationship Type="http://schemas.openxmlformats.org/officeDocument/2006/relationships/slide" Target="/ppt/slides/slide9.xml" Id="R34c1ae12d28e486b" /><Relationship Type="http://schemas.openxmlformats.org/officeDocument/2006/relationships/slide" Target="/ppt/slides/slide10.xml" Id="Rd80ed67efdd24f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3792abca1c49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224affa3d74e17" /><Relationship Type="http://schemas.openxmlformats.org/officeDocument/2006/relationships/notesMaster" Target="/ppt/notesMasters/notesMaster1.xml" Id="Reae91b0b9e6f46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eee7695aac4287" /><Relationship Type="http://schemas.openxmlformats.org/officeDocument/2006/relationships/notesMaster" Target="/ppt/notesMasters/notesMaster1.xml" Id="R4380e03d8fdc41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f64c6c652e438b" /><Relationship Type="http://schemas.openxmlformats.org/officeDocument/2006/relationships/notesMaster" Target="/ppt/notesMasters/notesMaster1.xml" Id="R7d5fc7a9647b4c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dc1153c79b4968" /><Relationship Type="http://schemas.openxmlformats.org/officeDocument/2006/relationships/notesMaster" Target="/ppt/notesMasters/notesMaster1.xml" Id="R66065e3fc6b442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88190f2aab44d8" /><Relationship Type="http://schemas.openxmlformats.org/officeDocument/2006/relationships/notesMaster" Target="/ppt/notesMasters/notesMaster1.xml" Id="R6d8483181efb4d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42a3c3524542f7" /><Relationship Type="http://schemas.openxmlformats.org/officeDocument/2006/relationships/notesMaster" Target="/ppt/notesMasters/notesMaster1.xml" Id="R106c243eba2840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e5d7a4fd5d4d0c" /><Relationship Type="http://schemas.openxmlformats.org/officeDocument/2006/relationships/notesMaster" Target="/ppt/notesMasters/notesMaster1.xml" Id="R7c06e04ee6ce45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54c13b1d4641a9" /><Relationship Type="http://schemas.openxmlformats.org/officeDocument/2006/relationships/notesMaster" Target="/ppt/notesMasters/notesMaster1.xml" Id="Rab9af58ee68841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1351f5f6234af1" /><Relationship Type="http://schemas.openxmlformats.org/officeDocument/2006/relationships/notesMaster" Target="/ppt/notesMasters/notesMaster1.xml" Id="R5217a22253234a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334690cd2847b5" /><Relationship Type="http://schemas.openxmlformats.org/officeDocument/2006/relationships/notesMaster" Target="/ppt/notesMasters/notesMaster1.xml" Id="Rcb30fde1157147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are presenting Campus Ledger, a Student and College Management System. Our ten-minute sequence follows the assessment brief: problem, ER design and schema, live MySQL commands, then the UI demonstration.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evidence: README.md; final-presentation brief pages 1–2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problem is disconnected college records. The first-version scope is the full academic and fee workflow for a student. Six roles see the records and actions relevant to them. Hostel, library and payroll are outside this version.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evidence: README.md; complete project report sections 2–3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diagram covers the academic master data. A department may offer many programmes and courses. Every programme belongs to one department. A course offering is one course in one semester, taught by one faculty member. Student and Guardian are many-to-many through StudentGuardian. The image files supplied with the repository also show attendance, exams, grades and fees.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evidence: ER_Diagram_1.png to ER_Diagram_4.png; sql/01_schema.sql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parent side may have no children, which is why the minimum is zero. A child row has a required foreign key to exactly one parent. The bridge tables resolve many-to-many relationships. These relationships are enforced through primary keys, foreign keys and unique constraints.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evidence: sql/01_schema.sql; ER_Diagram_2.png to ER_Diagram_4.png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schema has 21 base tables. Course facts stay in Course, while semester, section, capacity and teacher stay in CourseOffering. A student stores programme_id, and department is reached through Programme, avoiding a transitive dependency. Payment and attendance are separate rows; balances and percentages are calculated rather than copied.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evidence: sql/01_schema.sql; docs/REVIEW_2_EVIDENCE.md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combined SQL file in a fresh MySQL database. It creates the database, tables, stored procedures, views, sample rows and SELECT queries. The shortened snippet shows the keys; the complete script has all fields and constraints. The count verification returns at least eleven rows in every one of the 21 base tables.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evidence: DBMS_Course_Project_All_Commands.sql; SQL_Execution_Output.txt; test-results-final.xml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can run both SELECT examples live. The first follows a student across registration, course offering, course and semester. The aggregate query groups active registrations by section and uses a left join so empty sections appear with zero. The values shown here came from the executed MySQL script, not invented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evidence: Live_Demo_Queries.sql; SQL_Execution_Output.txt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show the list with eleven departments and the blank add form. Enter the temporary DEMO-QA department and save. The UI shows it at the top, and a SELECT confirms the new row in the same MySQL database. The count changes from eleven to twelve. The full screenshots are in Presentation/screenshots.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evidence: screenshots/13-department-before-insert.png; screenshots/14-department-after-insert-before-delete.png; CRUD_Database_Evidence.txt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Delete only the temporary DEMO-QA record, which has no child records. The UI list returns to eleven rows. A SELECT for DEMO-QA returns zero rows. The audit screen records both the create and delete actions. We then briefly show the student, attendance, examination, fees and report screens.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evidence: screenshots/14-department-after-insert-before-delete.png; screenshots/15-department-after-delete.png; CRUD_Database_Evidence.txt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Any team member can answer questions about the model, SQL and UI. Registration and payment procedures use row locks to prevent taking the last seat twice or overpaying a bill. The test suite was rerun against an isolated MySQL test database and passed all 45 tests. The 75 percent threshold and grade scale are demonstration assumptions, not a university policy.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evidence: docs/test-results-final.xml; README.md; DEMONSTRATION_GUIDE.md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5666657a3145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481341d753402c" /><Relationship Type="http://schemas.openxmlformats.org/officeDocument/2006/relationships/slideLayout" Target="/ppt/slideLayouts/slideLayout1.xml" Id="R65cd2f7ec24443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cd2f7ec24443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de47b28ee465f" /><Relationship Type="http://schemas.openxmlformats.org/officeDocument/2006/relationships/notesSlide" Target="/ppt/notesSlides/notesSlide1.xml" Id="R13843abc83a24b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3edca653c4f7f" /><Relationship Type="http://schemas.openxmlformats.org/officeDocument/2006/relationships/notesSlide" Target="/ppt/notesSlides/notesSlide2.xml" Id="R3ee6a5acd91d44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c5e1f7e5a4c0e" /><Relationship Type="http://schemas.openxmlformats.org/officeDocument/2006/relationships/image" Target="/ppt/media/image.png" Id="Ra3baac31b92a4b4b" /><Relationship Type="http://schemas.openxmlformats.org/officeDocument/2006/relationships/notesSlide" Target="/ppt/notesSlides/notesSlide3.xml" Id="Rba540e0807a843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fe7f478f54303" /><Relationship Type="http://schemas.openxmlformats.org/officeDocument/2006/relationships/notesSlide" Target="/ppt/notesSlides/notesSlide4.xml" Id="R4eaa8f24976349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acbae05044528" /><Relationship Type="http://schemas.openxmlformats.org/officeDocument/2006/relationships/notesSlide" Target="/ppt/notesSlides/notesSlide5.xml" Id="R6b4e372c9c454d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957f377db41d3" /><Relationship Type="http://schemas.openxmlformats.org/officeDocument/2006/relationships/notesSlide" Target="/ppt/notesSlides/notesSlide6.xml" Id="R9d8bd5fe062b4e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d3103d7db4d5e" /><Relationship Type="http://schemas.openxmlformats.org/officeDocument/2006/relationships/notesSlide" Target="/ppt/notesSlides/notesSlide7.xml" Id="R2dc1a86cdb9c45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2d4e91cf64f69" /><Relationship Type="http://schemas.openxmlformats.org/officeDocument/2006/relationships/image" Target="/ppt/media/image2.png" Id="Rae76e5df8479469d" /><Relationship Type="http://schemas.openxmlformats.org/officeDocument/2006/relationships/image" Target="/ppt/media/image3.png" Id="R52a7a885e0c74f92" /><Relationship Type="http://schemas.openxmlformats.org/officeDocument/2006/relationships/notesSlide" Target="/ppt/notesSlides/notesSlide8.xml" Id="R5e4bfb53edea47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c677afcbe4b31" /><Relationship Type="http://schemas.openxmlformats.org/officeDocument/2006/relationships/image" Target="/ppt/media/image4.png" Id="R64498121fe4347a5" /><Relationship Type="http://schemas.openxmlformats.org/officeDocument/2006/relationships/image" Target="/ppt/media/image5.png" Id="Rda707ee1af784f90" /><Relationship Type="http://schemas.openxmlformats.org/officeDocument/2006/relationships/notesSlide" Target="/ppt/notesSlides/notesSlide9.xml" Id="Rc4e8cc72562e45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d6aaaa9654eee" /><Relationship Type="http://schemas.openxmlformats.org/officeDocument/2006/relationships/notesSlide" Target="/ppt/notesSlides/notesSlide10.xml" Id="R4dd1f63ba46047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29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CC7AF-13BC-4AC1-BCB5-B07F68E5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9144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9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A94F"/>
                </a:solidFill>
                <a:latin typeface="Arial"/>
                <a:ea typeface="Arial"/>
                <a:cs typeface="Arial"/>
              </a:rPr>
              <a:t>DBMS COURSE PROJECT · FINAL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B5E34-7378-44E3-81E7-4C07CEF8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1038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 and College</a:t>
            </a:r>
          </a:p>
          <a:p xmlns:a="http://schemas.openxmlformats.org/drawingml/2006/main">
            <a:pPr>
              <a:buNone/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Management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641AE-7DC7-482C-8364-BEC09D86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DCE9E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CE9E3"/>
                </a:solidFill>
                <a:latin typeface="Arial"/>
                <a:ea typeface="Arial"/>
                <a:cs typeface="Arial"/>
              </a:rPr>
              <a:t>Campus Ledger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F1F52-2E9D-45C7-B95C-9C24E1DC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Golamari Shashanth Reddy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6B163B-F92F-499E-8F7F-099BAC85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CE9E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9E3"/>
                </a:solidFill>
                <a:latin typeface="Arial"/>
                <a:ea typeface="Arial"/>
                <a:cs typeface="Arial"/>
              </a:rPr>
              <a:t>25WU0101041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1438F0-255F-4D80-98B0-1894756C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7339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Hansini Baggu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27E2A-E255-4414-9E88-AD864EC2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086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CE9E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9E3"/>
                </a:solidFill>
                <a:latin typeface="Arial"/>
                <a:ea typeface="Arial"/>
                <a:cs typeface="Arial"/>
              </a:rPr>
              <a:t>25WU0101045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F65F8E-EE5B-4B9D-B659-B8DC377A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339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Kandibanda Balaji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DC117B-3C74-4BE1-8D6E-AA885640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863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CE9E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9E3"/>
                </a:solidFill>
                <a:latin typeface="Arial"/>
                <a:ea typeface="Arial"/>
                <a:cs typeface="Arial"/>
              </a:rPr>
              <a:t>25WU0101057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A5F334-CBA4-4211-B485-069556AC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48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 → ER &amp; schema → MySQL &amp; queries → working UI</a:t>
            </a:r>
          </a:p>
        </p:txBody>
      </p:sp>
    </p:spTree>
    <p:extLst>
      <p:ext uri="{BB962C8B-B14F-4D97-AF65-F5344CB8AC3E}">
        <p14:creationId xmlns:p14="http://schemas.microsoft.com/office/powerpoint/2010/main" val="17987930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EE8DA-77B5-46A9-908E-63594468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"/>
            <a:ext cx="609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1 MINUTE ·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E20A0A-1D9A-45A4-A533-31B86493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77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363A"/>
                </a:solidFill>
                <a:latin typeface="Arial"/>
                <a:ea typeface="Arial"/>
                <a:cs typeface="Arial"/>
              </a:rPr>
              <a:t>Problem, objectives and users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3FB23-BB2A-4645-A01C-A5D8D966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86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Campus Ledger  |  DBMS final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1D511-C554-41A9-931B-EA3B8BA4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6BFF31-6D14-41DB-B362-055975DB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1C9C8-ECCE-4028-B2B1-A77D3ED8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4310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Admissions, teaching, examinations and accounts maintain related student records. Separate registers repeat data and slow reconciliation.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76E11-E243-4A45-B28F-FF02D7CB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67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9E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FC9784-37D7-4447-BCF9-EF484A71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71850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687B27-26F4-4802-8459-2B97C4E5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19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One connected database for admission, registration, attendance, grades, bills, payments and reports.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45CA1D-2F80-4106-97C0-34A77AD4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0537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B3FF64-7E5E-49E0-92A9-0B251E24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149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Admin  •  Faculty  •  Examinations  •  Accounts  •  Student  •  Head of department</a:t>
            </a:r>
          </a:p>
        </p:txBody>
      </p:sp>
    </p:spTree>
    <p:extLst>
      <p:ext uri="{BB962C8B-B14F-4D97-AF65-F5344CB8AC3E}">
        <p14:creationId xmlns:p14="http://schemas.microsoft.com/office/powerpoint/2010/main" val="5455422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3E6FFE-4A2A-4947-B669-6E0A2700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"/>
            <a:ext cx="609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2 MINUTES · ER AND SCHEMA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FE0B4-F79C-430D-ADF3-611A93C1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77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363A"/>
                </a:solidFill>
                <a:latin typeface="Arial"/>
                <a:ea typeface="Arial"/>
                <a:cs typeface="Arial"/>
              </a:rPr>
              <a:t>ER model: academic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D1CDE-BC5D-4B83-965E-1747D25B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86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Campus Ledger  |  DBMS final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2EE2DD-CF7C-4CFB-9B6C-F9BAF22A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baac31b92a4b4b"/>
          <a:stretch xmlns:a="http://schemas.openxmlformats.org/drawingml/2006/main"/>
        </p:blipFill>
        <p:spPr>
          <a:xfrm xmlns:a="http://schemas.openxmlformats.org/drawingml/2006/main">
            <a:off x="1095375" y="1352550"/>
            <a:ext cx="4857750" cy="4857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9F40C-821E-4843-B8F1-B0A72180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52575"/>
            <a:ext cx="438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Core entities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CECF18-BEFB-4191-B3DD-80904CDF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85975"/>
            <a:ext cx="452437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Department  •  Programme</a:t>
            </a:r>
          </a:p>
          <a:p xmlns:a="http://schemas.openxmlformats.org/drawingml/2006/main">
            <a:pPr>
              <a:buNone/>
              <a:defRPr sz="187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Course  •  Faculty  •  Semester</a:t>
            </a:r>
          </a:p>
          <a:p xmlns:a="http://schemas.openxmlformats.org/drawingml/2006/main">
            <a:pPr>
              <a:buNone/>
              <a:defRPr sz="187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Student  •  Guardian</a:t>
            </a:r>
          </a:p>
          <a:p xmlns:a="http://schemas.openxmlformats.org/drawingml/2006/main">
            <a:pPr>
              <a:buNone/>
              <a:defRPr sz="187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Course Offering  •  Registration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5FBFF-390C-4387-9C04-3CC8939A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814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Keys and relationships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00661F-86BF-49AB-9823-122A67F2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57725"/>
            <a:ext cx="4476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Each entity has a primary key. Foreign keys connect the child to exactly one parent; a parent can have zero or many children.</a:t>
            </a:r>
          </a:p>
        </p:txBody>
      </p:sp>
    </p:spTree>
    <p:extLst>
      <p:ext uri="{BB962C8B-B14F-4D97-AF65-F5344CB8AC3E}">
        <p14:creationId xmlns:p14="http://schemas.microsoft.com/office/powerpoint/2010/main" val="11289756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DE9351-A3D9-469E-BF77-0FE287C1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"/>
            <a:ext cx="609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2 MINUTES · ER AND SCHEMA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477A6-970E-423F-A26F-1EFAC94D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77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363A"/>
                </a:solidFill>
                <a:latin typeface="Arial"/>
                <a:ea typeface="Arial"/>
                <a:cs typeface="Arial"/>
              </a:rPr>
              <a:t>Relationships, cardinality and participation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2B323-EC33-406E-B977-65226293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86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Campus Ledger  |  DBMS final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B08BC-1C67-4605-A393-7A2B6204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44E80-E8EA-4451-A82B-67AE8380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A6A"/>
                </a:solidFill>
                <a:latin typeface="Arial"/>
                <a:ea typeface="Arial"/>
                <a:cs typeface="Arial"/>
              </a:rPr>
              <a:t>Relationship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77E073-C83A-44FF-958B-046A9FC2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5811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A6A"/>
                </a:solidFill>
                <a:latin typeface="Arial"/>
                <a:ea typeface="Arial"/>
                <a:cs typeface="Arial"/>
              </a:rPr>
              <a:t>Cardinality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54546-682B-40F0-B0F5-801092FA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5811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A6A"/>
                </a:solidFill>
                <a:latin typeface="Arial"/>
                <a:ea typeface="Arial"/>
                <a:cs typeface="Arial"/>
              </a:rPr>
              <a:t>Child participation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C4CE77-F907-475C-AABB-D71A8A24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63A"/>
                </a:solidFill>
                <a:latin typeface="Arial"/>
                <a:ea typeface="Arial"/>
                <a:cs typeface="Arial"/>
              </a:rPr>
              <a:t>Department → Programme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A3EB1A-100C-4483-9495-4A4F4A34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478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1 to 0..N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08C9E0-1F9C-402C-A262-EC1C701E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04787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Programme requires one department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9EB6D5-C067-4012-9E73-E210ABEB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908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9E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AB2CE8-34C5-4945-954A-F7ED2CA0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813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63A"/>
                </a:solidFill>
                <a:latin typeface="Arial"/>
                <a:ea typeface="Arial"/>
                <a:cs typeface="Arial"/>
              </a:rPr>
              <a:t>Student → Registration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F189F4-4D77-4AF9-81BC-97A761C7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813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1 to 0..N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8572A5-AABE-4A78-A3E8-89E3B9E8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7813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Registration requires one student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6BE64A-5DB3-4496-AF01-CCD80A12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242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9E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EDAD0D-1B71-4893-9EE4-C6CB53E8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14725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63A"/>
                </a:solidFill>
                <a:latin typeface="Arial"/>
                <a:ea typeface="Arial"/>
                <a:cs typeface="Arial"/>
              </a:rPr>
              <a:t>Offering → Registration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2392E6-059B-4D7F-A484-D3D59905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1472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1 to 0..N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8D8B8D-81AB-4459-BEDE-44A22D16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51472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Registration requires one offering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3EDE34-31C3-4665-8E7B-3F87F39C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57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9E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F5EDCC-38B9-44BD-A864-639708A6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4815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63A"/>
                </a:solidFill>
                <a:latin typeface="Arial"/>
                <a:ea typeface="Arial"/>
                <a:cs typeface="Arial"/>
              </a:rPr>
              <a:t>Registration → Attendance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178F42-18DA-47AA-8EE5-97003DA8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2481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1 to 0..N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C7D487-34B6-4FC6-AA5A-C1CAAC22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2481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Attendance requires a registration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2F2CD8-6764-43B8-92CE-AAFBB8DA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910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9E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6EA9BC-DD53-4897-9DBC-99F6FF37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81575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63A"/>
                </a:solidFill>
                <a:latin typeface="Arial"/>
                <a:ea typeface="Arial"/>
                <a:cs typeface="Arial"/>
              </a:rPr>
              <a:t>Fee Bill → Payment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AB1D3B-345C-4DC2-B83E-12E4525D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9815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1 to 0..N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CA16EB-C576-4025-8BD1-FD39105F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98157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Payment requires one bill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073A99-BF39-4B3A-908B-386E664A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Bridge tables resolve many-to-many links: StudentGuardian, ProgrammeCourse and Registration.</a:t>
            </a:r>
          </a:p>
        </p:txBody>
      </p:sp>
    </p:spTree>
    <p:extLst>
      <p:ext uri="{BB962C8B-B14F-4D97-AF65-F5344CB8AC3E}">
        <p14:creationId xmlns:p14="http://schemas.microsoft.com/office/powerpoint/2010/main" val="10915262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91A18-6C57-4AFE-9838-BC5D4B9D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"/>
            <a:ext cx="609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2 MINUTES · ER AND SCHEMA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055BC-0267-4A26-A780-8CE18AEA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77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363A"/>
                </a:solidFill>
                <a:latin typeface="Arial"/>
                <a:ea typeface="Arial"/>
                <a:cs typeface="Arial"/>
              </a:rPr>
              <a:t>Relational schema and Third Normal 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1DA05-DE15-44F8-BE42-405D09E2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86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Campus Ledger  |  DBMS final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9EDE8-6975-4CA6-8B62-6923C8AD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0673B-F26E-43E8-9DB5-543F610A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52575"/>
            <a:ext cx="4381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Representative keys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81665-FA1E-4E75-B94C-353E75D1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57400"/>
            <a:ext cx="1071562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Student(student_id PK, programme_id FK, registration_no UNIQUE)</a:t>
            </a:r>
          </a:p>
          <a:p xmlns:a="http://schemas.openxmlformats.org/drawingml/2006/main">
            <a:pPr>
              <a:buNone/>
              <a:defRPr sz="1650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CourseOffering(offering_id PK, course_id FK, semester_id FK, faculty_id FK)</a:t>
            </a:r>
          </a:p>
          <a:p xmlns:a="http://schemas.openxmlformats.org/drawingml/2006/main">
            <a:pPr>
              <a:buNone/>
              <a:defRPr sz="1650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Registration(registration_id PK, student_id FK, offering_id FK)</a:t>
            </a:r>
          </a:p>
          <a:p xmlns:a="http://schemas.openxmlformats.org/drawingml/2006/main">
            <a:pPr>
              <a:buNone/>
              <a:defRPr sz="1650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Attendance(registration_id + session_id composite PK)</a:t>
            </a:r>
          </a:p>
          <a:p xmlns:a="http://schemas.openxmlformats.org/drawingml/2006/main">
            <a:pPr>
              <a:buNone/>
              <a:defRPr sz="1650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FeeBill(bill_id PK, student_id FK, semester_id FK)</a:t>
            </a:r>
          </a:p>
          <a:p xmlns:a="http://schemas.openxmlformats.org/drawingml/2006/main">
            <a:pPr>
              <a:buNone/>
              <a:defRPr sz="1650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Payment(payment_id PK, bill_id FK)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79B7C-E9A1-4473-BF15-DAF8212E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387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9E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0B9DA0-C80F-41A9-8147-A39D2560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625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Why 3NF?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1D35FD-CFEA-42D6-860A-28D7BBB3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7212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Each table stores one subject. Repeating values become separate rows; balances and attendance percentages are derived through views.</a:t>
            </a:r>
          </a:p>
        </p:txBody>
      </p:sp>
    </p:spTree>
    <p:extLst>
      <p:ext uri="{BB962C8B-B14F-4D97-AF65-F5344CB8AC3E}">
        <p14:creationId xmlns:p14="http://schemas.microsoft.com/office/powerpoint/2010/main" val="2443461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0D591F-F5CC-4771-A72B-E9949C91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"/>
            <a:ext cx="609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2 MINUTES · DATABASE AND QUERIES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03AFB-7923-4F30-BA8F-C5C589A2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77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363A"/>
                </a:solidFill>
                <a:latin typeface="Arial"/>
                <a:ea typeface="Arial"/>
                <a:cs typeface="Arial"/>
              </a:rPr>
              <a:t>MySQL creation, constraints and sample 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371508-0E5F-4822-9C07-EA1A064D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86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Campus Ledger  |  DBMS final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491DD-08C5-4CFD-95AB-5C6E6711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B2E3F-3DC8-4A12-A31E-338C611D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0668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Live file: DBMS_Course_Project_All_Commands.sql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15C02C-D4C1-459E-8313-933E3935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7239000" cy="2924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CREATE DATABASE college_pbl_presentation;</a:t>
            </a:r>
          </a:p>
          <a:p xmlns:a="http://schemas.openxmlformats.org/drawingml/2006/main">
            <a:pPr>
              <a:buNone/>
              <a:defRPr sz="172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CREATE TABLE registration (</a:t>
            </a:r>
          </a:p>
          <a:p xmlns:a="http://schemas.openxmlformats.org/drawingml/2006/main">
            <a:pPr>
              <a:buNone/>
              <a:defRPr sz="172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  registration_id INT AUTO_INCREMENT PRIMARY KEY,</a:t>
            </a:r>
          </a:p>
          <a:p xmlns:a="http://schemas.openxmlformats.org/drawingml/2006/main">
            <a:pPr>
              <a:buNone/>
              <a:defRPr sz="172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  student_id INT NOT NULL, offering_id INT NOT NULL,</a:t>
            </a:r>
          </a:p>
          <a:p xmlns:a="http://schemas.openxmlformats.org/drawingml/2006/main">
            <a:pPr>
              <a:buNone/>
              <a:defRPr sz="172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  UNIQUE (student_id, offering_id),</a:t>
            </a:r>
          </a:p>
          <a:p xmlns:a="http://schemas.openxmlformats.org/drawingml/2006/main">
            <a:pPr>
              <a:buNone/>
              <a:defRPr sz="172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  FOREIGN KEY (student_id) REFERENCES student(student_id),</a:t>
            </a:r>
          </a:p>
          <a:p xmlns:a="http://schemas.openxmlformats.org/drawingml/2006/main">
            <a:pPr>
              <a:buNone/>
              <a:defRPr sz="172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  FOREIGN KEY (offering_id) REFERENCES course_offering(offering_id)</a:t>
            </a:r>
          </a:p>
          <a:p xmlns:a="http://schemas.openxmlformats.org/drawingml/2006/main">
            <a:pPr>
              <a:buNone/>
              <a:defRPr sz="172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9F37A-19C0-4DB5-8638-F576C367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002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Verified on MySQL 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EFF17-2778-46E7-9533-5F008FB8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09875"/>
            <a:ext cx="3171825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21 base tables</a:t>
            </a:r>
          </a:p>
          <a:p xmlns:a="http://schemas.openxmlformats.org/drawingml/2006/main">
            <a:pPr>
              <a:buNone/>
              <a:defRPr sz="187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4 reporting views</a:t>
            </a:r>
          </a:p>
          <a:p xmlns:a="http://schemas.openxmlformats.org/drawingml/2006/main">
            <a:pPr>
              <a:buNone/>
              <a:defRPr sz="187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11+ rows in every table</a:t>
            </a:r>
          </a:p>
          <a:p xmlns:a="http://schemas.openxmlformats.org/drawingml/2006/main">
            <a:pPr>
              <a:buNone/>
              <a:defRPr sz="187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45 passing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68AF64-CC9F-458E-AD47-2481D4C4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150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Real run output is included as SQL_Execution_Output.txt.</a:t>
            </a:r>
          </a:p>
        </p:txBody>
      </p:sp>
    </p:spTree>
    <p:extLst>
      <p:ext uri="{BB962C8B-B14F-4D97-AF65-F5344CB8AC3E}">
        <p14:creationId xmlns:p14="http://schemas.microsoft.com/office/powerpoint/2010/main" val="21008671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B0B47B-6DFF-4F21-A279-718B009B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"/>
            <a:ext cx="609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2 MINUTES · DATABASE AND QUERIES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A64E95-0B6F-4A2C-9889-51294618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77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363A"/>
                </a:solidFill>
                <a:latin typeface="Arial"/>
                <a:ea typeface="Arial"/>
                <a:cs typeface="Arial"/>
              </a:rPr>
              <a:t>SELECT joins and aggregate outputs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78E20-6A13-474C-81E4-BB341502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86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Campus Ledger  |  DBMS final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42EA5-377D-4066-8734-87C25365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0D785-5FF2-4561-B28E-48DA2A57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Join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70F06-EC8C-4509-B8FD-145835C0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050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Student → Registration → CourseOffering → Course → Semester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C1793-7F77-4D13-84AF-7DC09BC3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050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Example: 2026CS001, Aarav Sharma, CS301, section A, 2026–27 Odd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A54FE-C5AD-4786-AD4F-D32B0D9C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337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9E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04EBB-4AEA-47F9-A8C5-0B718E7C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6710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Aggregate: active students by section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2BD125-99A3-4A01-9C70-00C92290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71925"/>
            <a:ext cx="4095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CS301 A   9</a:t>
            </a:r>
          </a:p>
          <a:p xmlns:a="http://schemas.openxmlformats.org/drawingml/2006/main">
            <a:pPr>
              <a:buNone/>
              <a:defRPr sz="187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CS301 B   0</a:t>
            </a:r>
          </a:p>
          <a:p xmlns:a="http://schemas.openxmlformats.org/drawingml/2006/main">
            <a:pPr>
              <a:buNone/>
              <a:defRPr sz="187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CS302 A   9</a:t>
            </a:r>
          </a:p>
          <a:p xmlns:a="http://schemas.openxmlformats.org/drawingml/2006/main">
            <a:pPr>
              <a:buNone/>
              <a:defRPr sz="187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CS303 A   0</a:t>
            </a:r>
          </a:p>
          <a:p xmlns:a="http://schemas.openxmlformats.org/drawingml/2006/main">
            <a:pPr>
              <a:buNone/>
              <a:defRPr sz="187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EC301 A  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F071FF-EA71-4B0F-BD21-F89F9E00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076700"/>
            <a:ext cx="54768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COUNT + LEFT JOIN includes sections with zero registrations.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D7DE31-D64C-4353-A8F0-FDBF13AD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305425"/>
            <a:ext cx="552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Full queries and actual outputs are included in the repository.</a:t>
            </a:r>
          </a:p>
        </p:txBody>
      </p:sp>
    </p:spTree>
    <p:extLst>
      <p:ext uri="{BB962C8B-B14F-4D97-AF65-F5344CB8AC3E}">
        <p14:creationId xmlns:p14="http://schemas.microsoft.com/office/powerpoint/2010/main" val="2687152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1EE901-966F-4BAE-B966-B13D9F90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"/>
            <a:ext cx="609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3 MINUTES · UI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C326C-18F9-4581-8587-D7768AE5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77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363A"/>
                </a:solidFill>
                <a:latin typeface="Arial"/>
                <a:ea typeface="Arial"/>
                <a:cs typeface="Arial"/>
              </a:rPr>
              <a:t>Working UI: view and insert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7E9B03-1F49-4610-9FE8-32AA1292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86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Campus Ledger  |  DBMS final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74E58-78AF-4F23-8478-F728B29F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F10D7-E43F-45CB-B011-065984CC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09700"/>
            <a:ext cx="5238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Before: eleven departments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6311D-4631-4D96-8D58-BEB13274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09700"/>
            <a:ext cx="5238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After UI insert: twelve departments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6e5df8479469d"/>
          <a:stretch xmlns:a="http://schemas.openxmlformats.org/drawingml/2006/main"/>
        </p:blipFill>
        <p:spPr>
          <a:xfrm xmlns:a="http://schemas.openxmlformats.org/drawingml/2006/main" flipH="0" flipV="0">
            <a:off x="628269" y="1885950"/>
            <a:ext cx="5239512" cy="363855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a7a885e0c74f92"/>
          <a:stretch xmlns:a="http://schemas.openxmlformats.org/drawingml/2006/main"/>
        </p:blipFill>
        <p:spPr>
          <a:xfrm xmlns:a="http://schemas.openxmlformats.org/drawingml/2006/main" flipH="0" flipV="0">
            <a:off x="6248019" y="1885950"/>
            <a:ext cx="5239512" cy="3638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889447-0ADD-47F9-8073-9DE0D1B2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5310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3A"/>
                </a:solidFill>
                <a:latin typeface="Arial"/>
                <a:ea typeface="Arial"/>
                <a:cs typeface="Arial"/>
              </a:rPr>
              <a:t>POST create → INSERT INTO department → SELECT confirms DEMO-QA</a:t>
            </a:r>
          </a:p>
        </p:txBody>
      </p:sp>
    </p:spTree>
    <p:extLst>
      <p:ext uri="{BB962C8B-B14F-4D97-AF65-F5344CB8AC3E}">
        <p14:creationId xmlns:p14="http://schemas.microsoft.com/office/powerpoint/2010/main" val="19014943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33BFDE-CB2C-4BAE-BABB-0C8B0B77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"/>
            <a:ext cx="609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3 MINUTES · UI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B53E0-0B56-40DE-93C6-9DCCC8CC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77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363A"/>
                </a:solidFill>
                <a:latin typeface="Arial"/>
                <a:ea typeface="Arial"/>
                <a:cs typeface="Arial"/>
              </a:rPr>
              <a:t>Working UI: delete and database reflection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EA043-4E9F-4157-9C3A-BE26022D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86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Campus Ledger  |  DBMS final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3E2188-DB5E-4C32-8747-4BF3FDDE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196CD-E822-48F4-AD11-711BBFFE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09700"/>
            <a:ext cx="5238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Before delete: DEMO-QA is present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F0A48-BC7B-46DE-86E7-45520D6B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09700"/>
            <a:ext cx="5238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After delete: DEMO-QA is absent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498121fe4347a5"/>
          <a:stretch xmlns:a="http://schemas.openxmlformats.org/drawingml/2006/main"/>
        </p:blipFill>
        <p:spPr>
          <a:xfrm xmlns:a="http://schemas.openxmlformats.org/drawingml/2006/main" flipH="0" flipV="0">
            <a:off x="628269" y="1885950"/>
            <a:ext cx="5239512" cy="363855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707ee1af784f90"/>
          <a:stretch xmlns:a="http://schemas.openxmlformats.org/drawingml/2006/main"/>
        </p:blipFill>
        <p:spPr>
          <a:xfrm xmlns:a="http://schemas.openxmlformats.org/drawingml/2006/main" flipH="0" flipV="0">
            <a:off x="6248019" y="1885950"/>
            <a:ext cx="5239512" cy="3638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1B4A6-BB14-4334-A9F6-A28A5954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5310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3A"/>
                </a:solidFill>
                <a:latin typeface="Arial"/>
                <a:ea typeface="Arial"/>
                <a:cs typeface="Arial"/>
              </a:rPr>
              <a:t>POST delete → DELETE FROM department → SELECT returns zero rows</a:t>
            </a:r>
          </a:p>
        </p:txBody>
      </p:sp>
    </p:spTree>
    <p:extLst>
      <p:ext uri="{BB962C8B-B14F-4D97-AF65-F5344CB8AC3E}">
        <p14:creationId xmlns:p14="http://schemas.microsoft.com/office/powerpoint/2010/main" val="7355239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333C28-BC3D-4704-A701-4B4D51E4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"/>
            <a:ext cx="609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2 MINUTES ·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63354-BF11-4F8A-9241-0418CFB7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77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363A"/>
                </a:solidFill>
                <a:latin typeface="Arial"/>
                <a:ea typeface="Arial"/>
                <a:cs typeface="Arial"/>
              </a:rPr>
              <a:t>Results, limits and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2A911-421A-4BBA-91EB-3B82D0ED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86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Campus Ledger  |  DBMS final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47776-93EA-4E51-8C69-AE8F6AE5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86102-C1E2-4300-ABD6-0368E87F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430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Verified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FC1AD-F2B4-439A-9427-95F1CD60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288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63A"/>
                </a:solidFill>
                <a:latin typeface="Arial"/>
                <a:ea typeface="Arial"/>
                <a:cs typeface="Arial"/>
              </a:rPr>
              <a:t>45 tests passed · 0 failures · 0 errors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B13B4E-80C0-4864-A8ED-96A1515D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76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9E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1B8B7-5985-4A54-BCD3-5F998FF5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28975"/>
            <a:ext cx="476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What the solution supports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CACFA-0281-41F6-A7BF-86ECDFA5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766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Admissions, section registration, attendance, exam results, grades, fee collection and six CSV reports.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6F0BF1-0CB2-48A5-B885-99DA38C0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95850"/>
            <a:ext cx="476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Scope of this prototype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525DFC-1A00-4369-B73B-09889FB1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24475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Synthetic records. The 75% attendance threshold and grade scale are demo rules. The app runs locally.</a:t>
            </a:r>
          </a:p>
        </p:txBody>
      </p:sp>
    </p:spTree>
    <p:extLst>
      <p:ext uri="{BB962C8B-B14F-4D97-AF65-F5344CB8AC3E}">
        <p14:creationId xmlns:p14="http://schemas.microsoft.com/office/powerpoint/2010/main" val="19357297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2026-10-07T04:47:55.0880000Z</dcterms:created>
  <dcterms:modified xsi:type="dcterms:W3CDTF">2026-10-07T04:47:55.0880000Z</dcterms:modified>
</coreProperties>
</file>